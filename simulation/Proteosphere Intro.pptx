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302" y="1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365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8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8096250" y="2054833"/>
            <a:ext cx="2095500" cy="2095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97473" y="4759871"/>
            <a:ext cx="2892977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350" kern="0" spc="243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PROTEOSPHERE · A TOUR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716155" y="5218030"/>
            <a:ext cx="10855691" cy="1825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6900" b="1" kern="0" spc="-1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self-built ML platform for protein drug discovery.</a:t>
            </a:r>
            <a:endParaRPr lang="en-US" sz="6900" dirty="0"/>
          </a:p>
        </p:txBody>
      </p:sp>
      <p:sp>
        <p:nvSpPr>
          <p:cNvPr id="6" name="Text 3"/>
          <p:cNvSpPr/>
          <p:nvPr/>
        </p:nvSpPr>
        <p:spPr>
          <a:xfrm>
            <a:off x="3748087" y="7348399"/>
            <a:ext cx="10791825" cy="921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24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from the ground up so the answers it produces can be trusted — not just look good on a leaderboard.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73700" y="9221236"/>
            <a:ext cx="528947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650" kern="0" spc="198" dirty="0">
                <a:solidFill>
                  <a:srgbClr val="8B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954985" y="9221236"/>
            <a:ext cx="227116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650" kern="0" spc="198" dirty="0">
                <a:solidFill>
                  <a:srgbClr val="40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334438" y="9221236"/>
            <a:ext cx="679862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650" kern="0" spc="198" dirty="0">
                <a:solidFill>
                  <a:srgbClr val="8B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457154"/>
            <a:ext cx="266654" cy="266654"/>
          </a:xfrm>
          <a:prstGeom prst="roundRect">
            <a:avLst>
              <a:gd name="adj" fmla="val 25004"/>
            </a:avLst>
          </a:prstGeom>
          <a:solidFill>
            <a:srgbClr val="6FC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504779"/>
            <a:ext cx="171404" cy="1714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2442" y="466122"/>
            <a:ext cx="1557755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62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PROTEOSPHERE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2500" y="1337907"/>
            <a:ext cx="8044815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243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BUILT THIS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2500" y="2062719"/>
            <a:ext cx="8044815" cy="1318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self-built research platform.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52500" y="3895277"/>
            <a:ext cx="706374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 </a:t>
            </a:r>
            <a:r>
              <a:rPr lang="en-US" sz="22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future med student with a long-standing interest in computational biology.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952500" y="5590680"/>
            <a:ext cx="706374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ProteoSphere is a one-semester solo project so far — every line of code, every screen, and every scientific decision is my own work.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952500" y="7657497"/>
            <a:ext cx="7063740" cy="1101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deck that follows is a guided tour of the software — what it does, why it matters for drug discovery, and the design choices that make its results actually trustworthy.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525000" y="800038"/>
            <a:ext cx="7810500" cy="4140128"/>
          </a:xfrm>
          <a:prstGeom prst="roundRect">
            <a:avLst>
              <a:gd name="adj" fmla="val 2301"/>
            </a:avLst>
          </a:prstGeom>
          <a:solidFill>
            <a:srgbClr val="0E1422"/>
          </a:solidFill>
          <a:ln w="4948">
            <a:solidFill>
              <a:srgbClr val="1D2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834717" y="1109755"/>
            <a:ext cx="7406798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81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PROJECT AT A GLANCE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834717" y="2024062"/>
            <a:ext cx="7191066" cy="9525"/>
          </a:xfrm>
          <a:prstGeom prst="rect">
            <a:avLst/>
          </a:prstGeom>
          <a:solidFill>
            <a:srgbClr val="1D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834717" y="1625048"/>
            <a:ext cx="972957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5182015" y="1625048"/>
            <a:ext cx="1919968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 bio · ML · UX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9834717" y="2675659"/>
            <a:ext cx="7191066" cy="9525"/>
          </a:xfrm>
          <a:prstGeom prst="rect">
            <a:avLst/>
          </a:prstGeom>
          <a:solidFill>
            <a:srgbClr val="1D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834717" y="2276645"/>
            <a:ext cx="926492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solo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4807123" y="2276645"/>
            <a:ext cx="2294860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months (1 semester)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9834717" y="3327256"/>
            <a:ext cx="7191066" cy="9525"/>
          </a:xfrm>
          <a:prstGeom prst="rect">
            <a:avLst/>
          </a:prstGeom>
          <a:solidFill>
            <a:srgbClr val="1D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834717" y="2928242"/>
            <a:ext cx="670430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5214177" y="2928242"/>
            <a:ext cx="1887806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~100k lines of code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9834717" y="3978852"/>
            <a:ext cx="7191066" cy="9525"/>
          </a:xfrm>
          <a:prstGeom prst="rect">
            <a:avLst/>
          </a:prstGeom>
          <a:solidFill>
            <a:srgbClr val="1D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834717" y="3579838"/>
            <a:ext cx="2301354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data indexed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5390993" y="3579838"/>
            <a:ext cx="1710990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262M proteins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9834717" y="4231435"/>
            <a:ext cx="950072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4191709" y="4231435"/>
            <a:ext cx="2919096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 scientists, not ML PhDs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9525000" y="5206819"/>
            <a:ext cx="5334000" cy="1530958"/>
          </a:xfrm>
          <a:prstGeom prst="roundRect">
            <a:avLst>
              <a:gd name="adj" fmla="val 7466"/>
            </a:avLst>
          </a:prstGeom>
          <a:solidFill>
            <a:srgbClr val="C79BFF">
              <a:alpha val="9000"/>
            </a:srgbClr>
          </a:solidFill>
          <a:ln w="4948">
            <a:solidFill>
              <a:srgbClr val="C79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739467" y="5383171"/>
            <a:ext cx="342885" cy="342885"/>
          </a:xfrm>
          <a:prstGeom prst="roundRect">
            <a:avLst>
              <a:gd name="adj" fmla="val 22223"/>
            </a:avLst>
          </a:prstGeom>
          <a:solidFill>
            <a:srgbClr val="C79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739467" y="5383171"/>
            <a:ext cx="419085" cy="38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216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0234737" y="5383171"/>
            <a:ext cx="4542091" cy="1216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medicine — </a:t>
            </a: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faster, more honest models for predicting how drugs bind to their targets shorten the path from idea to clinical trial.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457154"/>
            <a:ext cx="266654" cy="266654"/>
          </a:xfrm>
          <a:prstGeom prst="roundRect">
            <a:avLst>
              <a:gd name="adj" fmla="val 25004"/>
            </a:avLst>
          </a:prstGeom>
          <a:solidFill>
            <a:srgbClr val="6FC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504779"/>
            <a:ext cx="171404" cy="1714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2442" y="466122"/>
            <a:ext cx="1434286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62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2500" y="2801680"/>
            <a:ext cx="16874490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243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SLIDE OF CONTEXT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2500" y="3259839"/>
            <a:ext cx="14716125" cy="1318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discovery hinges on one question: </a:t>
            </a:r>
            <a:r>
              <a:rPr lang="en-US" sz="4800" b="1" kern="0" spc="-72" dirty="0">
                <a:solidFill>
                  <a:srgbClr val="6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molecule bind to that protein?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952500" y="4997146"/>
            <a:ext cx="5168859" cy="2488174"/>
          </a:xfrm>
          <a:prstGeom prst="roundRect">
            <a:avLst>
              <a:gd name="adj" fmla="val 3828"/>
            </a:avLst>
          </a:prstGeom>
          <a:solidFill>
            <a:srgbClr val="0E1422"/>
          </a:solidFill>
          <a:ln w="4948">
            <a:solidFill>
              <a:srgbClr val="1D2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62217" y="5306863"/>
            <a:ext cx="4685907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81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OLD WAY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62217" y="5726906"/>
            <a:ext cx="4685907" cy="106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chemist hand-picks compounds, runs lab assays for each one, and waits weeks for results.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62217" y="6926964"/>
            <a:ext cx="4685907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81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$$$ · slow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64243" y="4997146"/>
            <a:ext cx="5168936" cy="2488174"/>
          </a:xfrm>
          <a:prstGeom prst="roundRect">
            <a:avLst>
              <a:gd name="adj" fmla="val 3828"/>
            </a:avLst>
          </a:prstGeom>
          <a:solidFill>
            <a:srgbClr val="0E1422"/>
          </a:solidFill>
          <a:ln w="4948">
            <a:solidFill>
              <a:srgbClr val="6FC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773960" y="5306863"/>
            <a:ext cx="4685987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81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ML PROMISE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773960" y="5726906"/>
            <a:ext cx="4685987" cy="106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trained model scores </a:t>
            </a: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candidate pairs in hours </a:t>
            </a:r>
            <a:r>
              <a:rPr lang="en-US" sz="18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narrowing the field before any chemistry happens.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773960" y="6926964"/>
            <a:ext cx="4685987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81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100,000× cheaper per prediction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1976064" y="4997146"/>
            <a:ext cx="5168859" cy="2488174"/>
          </a:xfrm>
          <a:prstGeom prst="roundRect">
            <a:avLst>
              <a:gd name="adj" fmla="val 3828"/>
            </a:avLst>
          </a:prstGeom>
          <a:solidFill>
            <a:srgbClr val="0E1422"/>
          </a:solidFill>
          <a:ln w="4948">
            <a:solidFill>
              <a:srgbClr val="1D2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2285781" y="5306863"/>
            <a:ext cx="4685907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81" dirty="0">
                <a:solidFill>
                  <a:srgbClr val="F5C4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CATCH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2285781" y="5726906"/>
            <a:ext cx="4685907" cy="106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published models are </a:t>
            </a:r>
            <a:r>
              <a:rPr lang="en-US" sz="1800" b="1" dirty="0">
                <a:solidFill>
                  <a:srgbClr val="F5C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wildly over-optimistic </a:t>
            </a:r>
            <a:r>
              <a:rPr lang="en-US" sz="18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how well they'll work on a new protein they haven't seen.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285781" y="6926964"/>
            <a:ext cx="4685907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81" dirty="0">
                <a:solidFill>
                  <a:srgbClr val="F5C4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the next slide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457154"/>
            <a:ext cx="266654" cy="266654"/>
          </a:xfrm>
          <a:prstGeom prst="roundRect">
            <a:avLst>
              <a:gd name="adj" fmla="val 25004"/>
            </a:avLst>
          </a:prstGeom>
          <a:solidFill>
            <a:srgbClr val="6FC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504779"/>
            <a:ext cx="171404" cy="1714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2442" y="466122"/>
            <a:ext cx="3814964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62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NAIVE ML LIES ABOUT ITSELF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2500" y="800038"/>
            <a:ext cx="16874490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243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PROBLEM THIS PLATFORM SOLVES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2500" y="1258197"/>
            <a:ext cx="16874490" cy="6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models </a:t>
            </a:r>
            <a:r>
              <a:rPr lang="en-US" sz="4800" b="1" kern="0" spc="-72" dirty="0">
                <a:solidFill>
                  <a:srgbClr val="F5C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memorize, then look brilliant</a:t>
            </a:r>
            <a:r>
              <a:rPr lang="en-US" sz="48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52500" y="2069677"/>
            <a:ext cx="10791825" cy="1281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check a model's accuracy, you hide some examples ("test set") and ask it to predict them. If you hide the wrong examples, the model can simply </a:t>
            </a:r>
            <a:r>
              <a:rPr lang="en-US" sz="2250" i="1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</a:t>
            </a:r>
            <a:r>
              <a:rPr lang="en-US" sz="22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 — and its score becomes meaningless.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952500" y="3769797"/>
            <a:ext cx="8077231" cy="3169150"/>
          </a:xfrm>
          <a:prstGeom prst="roundRect">
            <a:avLst>
              <a:gd name="adj" fmla="val 3607"/>
            </a:avLst>
          </a:prstGeom>
          <a:solidFill>
            <a:srgbClr val="0E1422"/>
          </a:solidFill>
          <a:ln w="4948">
            <a:solidFill>
              <a:srgbClr val="FF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224102" y="4041399"/>
            <a:ext cx="7760049" cy="23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05" dirty="0">
                <a:solidFill>
                  <a:srgbClr val="FF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THE COMMON SHORTCUT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24102" y="4330009"/>
            <a:ext cx="7760049" cy="397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 random examples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224102" y="4784302"/>
            <a:ext cx="7760049" cy="580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molecules and proteins come in families. A near-twin of the hidden example is almost certainly still in the training data — so the model has seen the answer in everything but name.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1224102" y="5460485"/>
            <a:ext cx="7534028" cy="439140"/>
          </a:xfrm>
          <a:prstGeom prst="roundRect">
            <a:avLst>
              <a:gd name="adj" fmla="val 13014"/>
            </a:avLst>
          </a:prstGeom>
          <a:solidFill>
            <a:srgbClr val="0A0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38371" y="5555735"/>
            <a:ext cx="1825336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 accuracy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026514" y="5555735"/>
            <a:ext cx="693547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87% R²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224102" y="5956759"/>
            <a:ext cx="7534028" cy="439140"/>
          </a:xfrm>
          <a:prstGeom prst="roundRect">
            <a:avLst>
              <a:gd name="adj" fmla="val 13014"/>
            </a:avLst>
          </a:prstGeom>
          <a:solidFill>
            <a:srgbClr val="0A0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338371" y="6052009"/>
            <a:ext cx="2031067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Real-world accuracy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820705" y="6052009"/>
            <a:ext cx="899355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50% R²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258269" y="3769797"/>
            <a:ext cx="8077231" cy="3169150"/>
          </a:xfrm>
          <a:prstGeom prst="roundRect">
            <a:avLst>
              <a:gd name="adj" fmla="val 3607"/>
            </a:avLst>
          </a:prstGeom>
          <a:solidFill>
            <a:srgbClr val="0E1422"/>
          </a:solidFill>
          <a:ln w="4948">
            <a:solidFill>
              <a:srgbClr val="B3EF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529871" y="4041399"/>
            <a:ext cx="7760049" cy="23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105" dirty="0">
                <a:solidFill>
                  <a:srgbClr val="B3EF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PROTEOSPHERE'S APPROACH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529871" y="4330009"/>
            <a:ext cx="7760049" cy="397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similarity, then hide whole groups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9529871" y="4784302"/>
            <a:ext cx="7760049" cy="852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cluster proteins and molecules by how alike they really are ("leakage-aware splitting"). The test set only contains things the model has genuinely never seen — so the score reflects reality.</a:t>
            </a:r>
            <a:endParaRPr lang="en-US" sz="1425" dirty="0"/>
          </a:p>
        </p:txBody>
      </p:sp>
      <p:sp>
        <p:nvSpPr>
          <p:cNvPr id="23" name="Shape 20"/>
          <p:cNvSpPr/>
          <p:nvPr/>
        </p:nvSpPr>
        <p:spPr>
          <a:xfrm>
            <a:off x="9529871" y="5731932"/>
            <a:ext cx="7534028" cy="439140"/>
          </a:xfrm>
          <a:prstGeom prst="roundRect">
            <a:avLst>
              <a:gd name="adj" fmla="val 13014"/>
            </a:avLst>
          </a:prstGeom>
          <a:solidFill>
            <a:srgbClr val="0A0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644140" y="5827182"/>
            <a:ext cx="1825336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 accuracy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6332282" y="5827182"/>
            <a:ext cx="693547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B3EF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68% R²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9529871" y="6228206"/>
            <a:ext cx="7534028" cy="439140"/>
          </a:xfrm>
          <a:prstGeom prst="roundRect">
            <a:avLst>
              <a:gd name="adj" fmla="val 13014"/>
            </a:avLst>
          </a:prstGeom>
          <a:solidFill>
            <a:srgbClr val="0A0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644140" y="6323456"/>
            <a:ext cx="2031067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Real-world accuracy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6332282" y="6323456"/>
            <a:ext cx="693547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B3EF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68% R²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952500" y="7281832"/>
            <a:ext cx="14716125" cy="39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founding insight of the whole platform: 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68% model you can trust is more useful than an 87% model you can't.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457154"/>
            <a:ext cx="266654" cy="266654"/>
          </a:xfrm>
          <a:prstGeom prst="roundRect">
            <a:avLst>
              <a:gd name="adj" fmla="val 25004"/>
            </a:avLst>
          </a:prstGeom>
          <a:solidFill>
            <a:srgbClr val="6FC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504779"/>
            <a:ext cx="171404" cy="1714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2442" y="466122"/>
            <a:ext cx="3942138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62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SEQUENCE ALONE ISN'T ENOUGH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2500" y="800038"/>
            <a:ext cx="16874490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243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WORKED EXAMPLE · WHY STRUCTURE MATTERS MORE THAN SEQUENCE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2500" y="1258197"/>
            <a:ext cx="16874490" cy="6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shape, different letters — and the model knows it.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52500" y="2012543"/>
            <a:ext cx="13312140" cy="1281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proteins can share only a quarter of their amino-acid letters and still fold into nearly identical 3D shapes. To a sequence-only splitter, they look like strangers. To the model, they look like siblings.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952500" y="3484047"/>
            <a:ext cx="5149608" cy="3826313"/>
          </a:xfrm>
          <a:prstGeom prst="roundRect">
            <a:avLst>
              <a:gd name="adj" fmla="val 3485"/>
            </a:avLst>
          </a:prstGeom>
          <a:solidFill>
            <a:srgbClr val="0E1422"/>
          </a:solidFill>
          <a:ln w="4948">
            <a:solidFill>
              <a:srgbClr val="1D2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665686" y="3660399"/>
            <a:ext cx="1799359" cy="23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84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PROTEIN A · CYAN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74765" y="3949009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74765" y="3949009"/>
            <a:ext cx="1905000" cy="1905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53910" y="5949260"/>
            <a:ext cx="1222911" cy="36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Myoglobin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584831" y="6375952"/>
            <a:ext cx="1884945" cy="507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275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oxygen in muscle. Single heme group.</a:t>
            </a:r>
            <a:endParaRPr lang="en-US" sz="1275" dirty="0"/>
          </a:p>
        </p:txBody>
      </p:sp>
      <p:sp>
        <p:nvSpPr>
          <p:cNvPr id="15" name="Text 11"/>
          <p:cNvSpPr/>
          <p:nvPr/>
        </p:nvSpPr>
        <p:spPr>
          <a:xfrm>
            <a:off x="2767044" y="6940648"/>
            <a:ext cx="1596644" cy="23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PDB · 1MBO · 153 aa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311627" y="3484047"/>
            <a:ext cx="5664669" cy="3826313"/>
          </a:xfrm>
          <a:prstGeom prst="roundRect">
            <a:avLst>
              <a:gd name="adj" fmla="val 3485"/>
            </a:avLst>
          </a:prstGeom>
          <a:solidFill>
            <a:srgbClr val="0E1422"/>
          </a:solidFill>
          <a:ln w="4948">
            <a:solidFill>
              <a:srgbClr val="C79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738212" y="3660399"/>
            <a:ext cx="2895764" cy="23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84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TWO STRUCTURES, OVERLAID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48548" y="3949009"/>
            <a:ext cx="2190750" cy="2190750"/>
          </a:xfrm>
          <a:prstGeom prst="roundRect">
            <a:avLst>
              <a:gd name="adj" fmla="val 4348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48548" y="3949009"/>
            <a:ext cx="2190750" cy="21907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43507" y="6235010"/>
            <a:ext cx="3600832" cy="30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identity: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~25% </a:t>
            </a:r>
            <a:r>
              <a:rPr lang="en-US" sz="15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5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RMSD: </a:t>
            </a:r>
            <a:r>
              <a:rPr lang="en-US" sz="1500" b="1" dirty="0">
                <a:solidFill>
                  <a:srgbClr val="B3E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 Å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574203" y="6558797"/>
            <a:ext cx="3139440" cy="43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quarter of the letters match. The shape is essentially identical.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12185815" y="3484047"/>
            <a:ext cx="5149685" cy="3826313"/>
          </a:xfrm>
          <a:prstGeom prst="roundRect">
            <a:avLst>
              <a:gd name="adj" fmla="val 3485"/>
            </a:avLst>
          </a:prstGeom>
          <a:solidFill>
            <a:srgbClr val="0E1422"/>
          </a:solidFill>
          <a:ln w="4948">
            <a:solidFill>
              <a:srgbClr val="1D2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13763006" y="3660399"/>
            <a:ext cx="2071425" cy="23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kern="0" spc="84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PROTEIN B · MAGENTA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13808157" y="3949009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808157" y="3949009"/>
            <a:ext cx="1905000" cy="19050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659174" y="5949260"/>
            <a:ext cx="2279088" cy="36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Hemoglobin α-chain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13525670" y="6375952"/>
            <a:ext cx="2469975" cy="507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275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oxygen in red blood cells. Same fold, different gene.</a:t>
            </a:r>
            <a:endParaRPr lang="en-US" sz="1275" dirty="0"/>
          </a:p>
        </p:txBody>
      </p:sp>
      <p:sp>
        <p:nvSpPr>
          <p:cNvPr id="28" name="Text 22"/>
          <p:cNvSpPr/>
          <p:nvPr/>
        </p:nvSpPr>
        <p:spPr>
          <a:xfrm>
            <a:off x="14000436" y="6940648"/>
            <a:ext cx="1596644" cy="23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PDB · 1HHO · 141 aa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952500" y="7519879"/>
            <a:ext cx="8058135" cy="1530958"/>
          </a:xfrm>
          <a:prstGeom prst="roundRect">
            <a:avLst>
              <a:gd name="adj" fmla="val 7466"/>
            </a:avLst>
          </a:prstGeom>
          <a:solidFill>
            <a:srgbClr val="F5C451">
              <a:alpha val="12000"/>
            </a:srgbClr>
          </a:solidFill>
          <a:ln w="4948">
            <a:solidFill>
              <a:srgbClr val="F5C4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1166967" y="7696231"/>
            <a:ext cx="342885" cy="342885"/>
          </a:xfrm>
          <a:prstGeom prst="roundRect">
            <a:avLst>
              <a:gd name="adj" fmla="val 22223"/>
            </a:avLst>
          </a:prstGeom>
          <a:solidFill>
            <a:srgbClr val="F5C4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1166967" y="7696231"/>
            <a:ext cx="419085" cy="38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216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1662236" y="7688280"/>
            <a:ext cx="7347949" cy="1216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Sequence-only splits miss this. </a:t>
            </a: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proteins at ~25% identity look like strangers to a BLAST-style check. Train on myoglobin and test on hemoglobin and the leakage audit says "no overlap" — but the model sees the same fold and the same heme pocket, so its prediction is half-cheating.</a:t>
            </a:r>
            <a:endParaRPr lang="en-US" sz="1650" dirty="0"/>
          </a:p>
        </p:txBody>
      </p:sp>
      <p:sp>
        <p:nvSpPr>
          <p:cNvPr id="33" name="Shape 27"/>
          <p:cNvSpPr/>
          <p:nvPr/>
        </p:nvSpPr>
        <p:spPr>
          <a:xfrm>
            <a:off x="9277288" y="7519879"/>
            <a:ext cx="8058212" cy="1530958"/>
          </a:xfrm>
          <a:prstGeom prst="roundRect">
            <a:avLst>
              <a:gd name="adj" fmla="val 7466"/>
            </a:avLst>
          </a:prstGeom>
          <a:solidFill>
            <a:srgbClr val="B3EF4D">
              <a:alpha val="9000"/>
            </a:srgbClr>
          </a:solidFill>
          <a:ln w="4948">
            <a:solidFill>
              <a:srgbClr val="B3EF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9491756" y="7696231"/>
            <a:ext cx="342885" cy="342885"/>
          </a:xfrm>
          <a:prstGeom prst="roundRect">
            <a:avLst>
              <a:gd name="adj" fmla="val 22223"/>
            </a:avLst>
          </a:prstGeom>
          <a:solidFill>
            <a:srgbClr val="B3EF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9491756" y="7696231"/>
            <a:ext cx="419085" cy="38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216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9985159" y="7671747"/>
            <a:ext cx="7348029" cy="1216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ProteoSphere groups them anyway. </a:t>
            </a: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splitter pools sequence similarity, structural similarity, and binding-pocket geometry. Same-fold proteins get held out together. Honest scores survive contact with reality.</a:t>
            </a:r>
            <a:endParaRPr lang="en-US" sz="1650" dirty="0"/>
          </a:p>
        </p:txBody>
      </p:sp>
      <p:sp>
        <p:nvSpPr>
          <p:cNvPr id="37" name="Text 31"/>
          <p:cNvSpPr/>
          <p:nvPr/>
        </p:nvSpPr>
        <p:spPr>
          <a:xfrm>
            <a:off x="706755" y="9184125"/>
            <a:ext cx="16874490" cy="535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350" kern="0" spc="81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Structures: myoglobin (1MBO) · hemoglobin α-chain (1HHO). Kendrew JC et al., Nature 181, 662 (1958); Perutz MF et al., Nature 185, 416 (1960) — the first two protein crystal structures, showing how distantly related proteins can share an identical fold.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8"/>
          <p:cNvSpPr/>
          <p:nvPr/>
        </p:nvSpPr>
        <p:spPr>
          <a:xfrm>
            <a:off x="7559000" y="3393591"/>
            <a:ext cx="3169923" cy="1762512"/>
          </a:xfrm>
          <a:prstGeom prst="roundRect">
            <a:avLst>
              <a:gd name="adj" fmla="val 6485"/>
            </a:avLst>
          </a:prstGeom>
          <a:solidFill>
            <a:srgbClr val="0E1422"/>
          </a:solidFill>
          <a:ln w="4948">
            <a:solidFill>
              <a:srgbClr val="C79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773467" y="3951947"/>
            <a:ext cx="2823218" cy="397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Splitter</a:t>
            </a:r>
            <a:endParaRPr lang="en-US" sz="1950" dirty="0">
              <a:solidFill>
                <a:schemeClr val="bg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952500" y="457154"/>
            <a:ext cx="266654" cy="266654"/>
          </a:xfrm>
          <a:prstGeom prst="roundRect">
            <a:avLst>
              <a:gd name="adj" fmla="val 25004"/>
            </a:avLst>
          </a:prstGeom>
          <a:solidFill>
            <a:srgbClr val="6FC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504779"/>
            <a:ext cx="171404" cy="1714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2442" y="466122"/>
            <a:ext cx="1557755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62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STUDIO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2500" y="800038"/>
            <a:ext cx="16874490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243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STUDIO · WHAT WE'LL TOUR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2500" y="1258197"/>
            <a:ext cx="16874490" cy="6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guided pipeline, one screen at a time.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52500" y="2107793"/>
            <a:ext cx="10791825" cy="866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has one job. A bench scientist can walk from raw data to a finished, deployable model without ever opening a terminal.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952500" y="3393591"/>
            <a:ext cx="3169923" cy="1762512"/>
          </a:xfrm>
          <a:prstGeom prst="roundRect">
            <a:avLst>
              <a:gd name="adj" fmla="val 6485"/>
            </a:avLst>
          </a:prstGeom>
          <a:solidFill>
            <a:srgbClr val="0E1422"/>
          </a:solidFill>
          <a:ln w="4948">
            <a:solidFill>
              <a:srgbClr val="6FC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66967" y="3608058"/>
            <a:ext cx="2823218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08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66967" y="3951947"/>
            <a:ext cx="2823218" cy="397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Library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166967" y="4406240"/>
            <a:ext cx="2823218" cy="535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 our universe of proteins and molecules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150443" y="4173780"/>
            <a:ext cx="134704" cy="14844"/>
          </a:xfrm>
          <a:prstGeom prst="rect">
            <a:avLst/>
          </a:prstGeom>
          <a:solidFill>
            <a:srgbClr val="2A37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270303" y="4173780"/>
            <a:ext cx="14844" cy="134704"/>
          </a:xfrm>
          <a:prstGeom prst="rect">
            <a:avLst/>
          </a:prstGeom>
          <a:solidFill>
            <a:srgbClr val="2A37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255711" y="3393591"/>
            <a:ext cx="3170000" cy="1762512"/>
          </a:xfrm>
          <a:prstGeom prst="roundRect">
            <a:avLst>
              <a:gd name="adj" fmla="val 6485"/>
            </a:avLst>
          </a:prstGeom>
          <a:solidFill>
            <a:srgbClr val="0E1422"/>
          </a:solidFill>
          <a:ln w="4948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n-US">
              <a:ln w="76200">
                <a:solidFill>
                  <a:srgbClr val="92D050"/>
                </a:solidFill>
              </a:ln>
            </a:endParaRPr>
          </a:p>
        </p:txBody>
      </p:sp>
      <p:sp>
        <p:nvSpPr>
          <p:cNvPr id="16" name="Text 13"/>
          <p:cNvSpPr/>
          <p:nvPr/>
        </p:nvSpPr>
        <p:spPr>
          <a:xfrm>
            <a:off x="4470178" y="3608058"/>
            <a:ext cx="2823298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08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470178" y="3951947"/>
            <a:ext cx="2823298" cy="397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Designer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4470178" y="4406240"/>
            <a:ext cx="2823298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which examples to train on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453732" y="4173780"/>
            <a:ext cx="134704" cy="14844"/>
          </a:xfrm>
          <a:prstGeom prst="rect">
            <a:avLst/>
          </a:prstGeom>
          <a:solidFill>
            <a:srgbClr val="2A37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573591" y="4173780"/>
            <a:ext cx="14844" cy="134704"/>
          </a:xfrm>
          <a:prstGeom prst="rect">
            <a:avLst/>
          </a:prstGeom>
          <a:solidFill>
            <a:srgbClr val="2A37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773467" y="3608058"/>
            <a:ext cx="2823218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08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773467" y="4406240"/>
            <a:ext cx="2823218" cy="535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Leakage-aware splits — the heart of the platform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10756943" y="4173780"/>
            <a:ext cx="134704" cy="14844"/>
          </a:xfrm>
          <a:prstGeom prst="rect">
            <a:avLst/>
          </a:prstGeom>
          <a:solidFill>
            <a:srgbClr val="2A37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10876803" y="4173780"/>
            <a:ext cx="14844" cy="134704"/>
          </a:xfrm>
          <a:prstGeom prst="rect">
            <a:avLst/>
          </a:prstGeom>
          <a:solidFill>
            <a:srgbClr val="2A37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0862211" y="3393591"/>
            <a:ext cx="3170000" cy="1762512"/>
          </a:xfrm>
          <a:prstGeom prst="roundRect">
            <a:avLst>
              <a:gd name="adj" fmla="val 6485"/>
            </a:avLst>
          </a:prstGeom>
          <a:solidFill>
            <a:srgbClr val="0E1422"/>
          </a:solidFill>
          <a:ln w="4948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1076679" y="3608058"/>
            <a:ext cx="2823298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08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1076679" y="3951947"/>
            <a:ext cx="2823298" cy="397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Builder</a:t>
            </a:r>
            <a:endParaRPr lang="en-US" sz="1950" dirty="0"/>
          </a:p>
        </p:txBody>
      </p:sp>
      <p:sp>
        <p:nvSpPr>
          <p:cNvPr id="30" name="Text 27"/>
          <p:cNvSpPr/>
          <p:nvPr/>
        </p:nvSpPr>
        <p:spPr>
          <a:xfrm>
            <a:off x="11076679" y="4406240"/>
            <a:ext cx="2823298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ML architecture, no code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14060231" y="4173780"/>
            <a:ext cx="134704" cy="14844"/>
          </a:xfrm>
          <a:prstGeom prst="rect">
            <a:avLst/>
          </a:prstGeom>
          <a:solidFill>
            <a:srgbClr val="2A37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14180091" y="4173780"/>
            <a:ext cx="14844" cy="134704"/>
          </a:xfrm>
          <a:prstGeom prst="rect">
            <a:avLst/>
          </a:prstGeom>
          <a:solidFill>
            <a:srgbClr val="2A37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4165499" y="3393591"/>
            <a:ext cx="3170000" cy="1762512"/>
          </a:xfrm>
          <a:prstGeom prst="roundRect">
            <a:avLst>
              <a:gd name="adj" fmla="val 6485"/>
            </a:avLst>
          </a:prstGeom>
          <a:solidFill>
            <a:srgbClr val="0E1422"/>
          </a:solidFill>
          <a:ln w="4948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4379966" y="3608058"/>
            <a:ext cx="2823298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08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14379966" y="3951947"/>
            <a:ext cx="2823298" cy="397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&amp; Review</a:t>
            </a:r>
            <a:endParaRPr lang="en-US" sz="1950" dirty="0"/>
          </a:p>
        </p:txBody>
      </p:sp>
      <p:sp>
        <p:nvSpPr>
          <p:cNvPr id="36" name="Text 33"/>
          <p:cNvSpPr/>
          <p:nvPr/>
        </p:nvSpPr>
        <p:spPr>
          <a:xfrm>
            <a:off x="14379966" y="4406240"/>
            <a:ext cx="2823298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training and honest metrics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952500" y="800469"/>
            <a:ext cx="8162512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243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REFERENCE LIBRARY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2500" y="1915979"/>
            <a:ext cx="8162512" cy="1318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warehouse of known biology.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52500" y="3748536"/>
            <a:ext cx="667131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 model is trained, ProteoSphere ingests, cleans, and unifies </a:t>
            </a:r>
            <a:r>
              <a:rPr lang="en-US" sz="2250" b="1" dirty="0">
                <a:solidFill>
                  <a:srgbClr val="6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major public source </a:t>
            </a:r>
            <a:r>
              <a:rPr lang="en-US" sz="22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protein, drug, and binding data into a single searchable warehouse.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952500" y="6243978"/>
            <a:ext cx="6671310" cy="1455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UniProt · PDB · ChEMBL · BindingDB · IntAct · Reactome · AlphaFold DB · InterPro, and more. 262 million proteins, 234,000 experimental structures, 24,800 curated binding assays — all pre-clustered for safe splits.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52500" y="8156477"/>
            <a:ext cx="6482443" cy="1673369"/>
          </a:xfrm>
          <a:prstGeom prst="roundRect">
            <a:avLst>
              <a:gd name="adj" fmla="val 12168"/>
            </a:avLst>
          </a:prstGeom>
          <a:solidFill>
            <a:srgbClr val="6FC7F5">
              <a:alpha val="12000"/>
            </a:srgbClr>
          </a:solidFill>
          <a:ln w="4948">
            <a:solidFill>
              <a:srgbClr val="6FC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66967" y="8332829"/>
            <a:ext cx="342885" cy="342885"/>
          </a:xfrm>
          <a:prstGeom prst="roundRect">
            <a:avLst>
              <a:gd name="adj" fmla="val 22223"/>
            </a:avLst>
          </a:prstGeom>
          <a:solidFill>
            <a:srgbClr val="6FC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66967" y="8332829"/>
            <a:ext cx="419085" cy="38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216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662236" y="8332829"/>
            <a:ext cx="5772707" cy="122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record carries its source, version, and content hash — so months later you can prove exactly what data trained which model.</a:t>
            </a:r>
            <a:endParaRPr lang="en-US" sz="165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69616453-9B0C-8605-5506-BBADC3B32DB8}"/>
              </a:ext>
            </a:extLst>
          </p:cNvPr>
          <p:cNvSpPr/>
          <p:nvPr/>
        </p:nvSpPr>
        <p:spPr>
          <a:xfrm>
            <a:off x="952500" y="457154"/>
            <a:ext cx="266654" cy="266654"/>
          </a:xfrm>
          <a:prstGeom prst="roundRect">
            <a:avLst>
              <a:gd name="adj" fmla="val 25004"/>
            </a:avLst>
          </a:prstGeom>
          <a:solidFill>
            <a:srgbClr val="6FC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103176FC-7CBA-A876-6BBA-515134138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504779"/>
            <a:ext cx="171404" cy="171404"/>
          </a:xfrm>
          <a:prstGeom prst="rect">
            <a:avLst/>
          </a:prstGeom>
        </p:spPr>
      </p:pic>
      <p:sp>
        <p:nvSpPr>
          <p:cNvPr id="30" name="Text 1">
            <a:extLst>
              <a:ext uri="{FF2B5EF4-FFF2-40B4-BE49-F238E27FC236}">
                <a16:creationId xmlns:a16="http://schemas.microsoft.com/office/drawing/2014/main" id="{AB28E979-CF0A-F7CE-EEA7-7769562D1E74}"/>
              </a:ext>
            </a:extLst>
          </p:cNvPr>
          <p:cNvSpPr/>
          <p:nvPr/>
        </p:nvSpPr>
        <p:spPr>
          <a:xfrm>
            <a:off x="1352442" y="466122"/>
            <a:ext cx="1557755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62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STUDIO</a:t>
            </a:r>
            <a:endParaRPr lang="en-US" sz="13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1A3D672-0A0B-C85C-1B29-173F46505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052" y="340820"/>
            <a:ext cx="10483680" cy="95596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457154"/>
            <a:ext cx="266654" cy="266654"/>
          </a:xfrm>
          <a:prstGeom prst="roundRect">
            <a:avLst>
              <a:gd name="adj" fmla="val 25004"/>
            </a:avLst>
          </a:prstGeom>
          <a:solidFill>
            <a:srgbClr val="6FC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504779"/>
            <a:ext cx="171404" cy="1714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" y="800038"/>
            <a:ext cx="16874490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243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DATASET DESIGNER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2500" y="1258197"/>
            <a:ext cx="16874490" cy="6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what to train on.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52500" y="2012543"/>
            <a:ext cx="10791825" cy="1281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picks for what kind of binding you're modelling, the data sources to draw from, and the quality filters to apply. A live dataset-summary rail on the right keeps the count, composition, and provenance visible as you tick boxes.</a:t>
            </a:r>
            <a:endParaRPr lang="en-US" sz="225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52E8D263-58CA-A4C1-3DCC-B028675E5065}"/>
              </a:ext>
            </a:extLst>
          </p:cNvPr>
          <p:cNvSpPr/>
          <p:nvPr/>
        </p:nvSpPr>
        <p:spPr>
          <a:xfrm>
            <a:off x="1352442" y="466122"/>
            <a:ext cx="1557755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62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STUDIO</a:t>
            </a:r>
            <a:endParaRPr lang="en-US" sz="13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AB7C4AF-9197-ECF6-1BCD-B2004E08FF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28651"/>
          <a:stretch>
            <a:fillRect/>
          </a:stretch>
        </p:blipFill>
        <p:spPr>
          <a:xfrm>
            <a:off x="3156375" y="3417692"/>
            <a:ext cx="12816595" cy="653185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457154"/>
            <a:ext cx="266654" cy="266654"/>
          </a:xfrm>
          <a:prstGeom prst="roundRect">
            <a:avLst>
              <a:gd name="adj" fmla="val 25004"/>
            </a:avLst>
          </a:prstGeom>
          <a:solidFill>
            <a:srgbClr val="6FC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504779"/>
            <a:ext cx="171404" cy="1714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" y="800038"/>
            <a:ext cx="16874490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243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THE SPLITTER · THE MOST IMPORTANT SCREEN IN THE PLATFORM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2500" y="1258197"/>
            <a:ext cx="16874490" cy="6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how to hold out the test set.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52501" y="2012543"/>
            <a:ext cx="5947064" cy="3232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policies, ranked by honesty. Random is marked </a:t>
            </a:r>
            <a:r>
              <a:rPr lang="en-US" sz="2250" i="1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likely </a:t>
            </a:r>
            <a:r>
              <a:rPr lang="en-US" sz="22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leakage-aware cluster is the default for any study you intend to publish or promote. Choose the design objective and the policy, and the cluster diagram below redraws live.</a:t>
            </a:r>
            <a:endParaRPr lang="en-US" sz="225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801326B9-96D7-BD99-B0E1-250635A79809}"/>
              </a:ext>
            </a:extLst>
          </p:cNvPr>
          <p:cNvSpPr/>
          <p:nvPr/>
        </p:nvSpPr>
        <p:spPr>
          <a:xfrm>
            <a:off x="1352442" y="466122"/>
            <a:ext cx="1557755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62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STUDIO</a:t>
            </a:r>
            <a:endParaRPr lang="en-US" sz="13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91B577D-D172-AFD7-4987-9BE24C479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56" y="2012543"/>
            <a:ext cx="11049552" cy="8274457"/>
          </a:xfrm>
          <a:prstGeom prst="rect">
            <a:avLst/>
          </a:prstGeom>
        </p:spPr>
      </p:pic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51E8E97F-F810-F0A6-8036-66BC73D9DE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038" t="2499" r="2302" b="14523"/>
          <a:stretch>
            <a:fillRect/>
          </a:stretch>
        </p:blipFill>
        <p:spPr>
          <a:xfrm>
            <a:off x="424690" y="5504519"/>
            <a:ext cx="6100801" cy="45353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457154"/>
            <a:ext cx="266654" cy="266654"/>
          </a:xfrm>
          <a:prstGeom prst="roundRect">
            <a:avLst>
              <a:gd name="adj" fmla="val 25004"/>
            </a:avLst>
          </a:prstGeom>
          <a:solidFill>
            <a:srgbClr val="6FC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504779"/>
            <a:ext cx="171404" cy="1714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" y="800038"/>
            <a:ext cx="16874490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243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PIPELINE BUILDER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2500" y="1258197"/>
            <a:ext cx="16874490" cy="6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the model — prefab or custom.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52500" y="2012543"/>
            <a:ext cx="15797645" cy="1182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modes: load a </a:t>
            </a:r>
            <a:r>
              <a:rPr lang="en-US" sz="2250" i="1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prefab template </a:t>
            </a:r>
            <a:r>
              <a:rPr lang="en-US" sz="22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(DeepDTA, ConPLex, DrugBAN…) for a known-good architecture, or open the </a:t>
            </a:r>
            <a:r>
              <a:rPr lang="en-US" sz="2250" i="1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builder </a:t>
            </a:r>
            <a:r>
              <a:rPr lang="en-US" sz="22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wire encoders, fusion, and prediction heads together yourself. Ports are color-coded; mismatched wires are refused on contact.</a:t>
            </a:r>
            <a:endParaRPr lang="en-US" sz="225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1C6E96F1-1D5F-54FD-F15F-027A2E88FA80}"/>
              </a:ext>
            </a:extLst>
          </p:cNvPr>
          <p:cNvSpPr/>
          <p:nvPr/>
        </p:nvSpPr>
        <p:spPr>
          <a:xfrm>
            <a:off x="1352442" y="466122"/>
            <a:ext cx="1557755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62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STUDIO</a:t>
            </a:r>
            <a:endParaRPr lang="en-US" sz="13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A7A296E-7E7C-11E1-A54D-8A79265F4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636" y="3511064"/>
            <a:ext cx="11014364" cy="627065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C30F444-A057-3FB5-30DD-8F22227D6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48" y="3707931"/>
            <a:ext cx="7239290" cy="63901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457154"/>
            <a:ext cx="266654" cy="266654"/>
          </a:xfrm>
          <a:prstGeom prst="roundRect">
            <a:avLst>
              <a:gd name="adj" fmla="val 25004"/>
            </a:avLst>
          </a:prstGeom>
          <a:solidFill>
            <a:srgbClr val="6FC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504779"/>
            <a:ext cx="171404" cy="1714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" y="800038"/>
            <a:ext cx="16874490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243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05A · LIVE TRAINING MONITOR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2500" y="1258197"/>
            <a:ext cx="16874490" cy="6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model learn — live.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52500" y="2012543"/>
            <a:ext cx="10791825" cy="1281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loss, validation metrics, GPU utilization, and per-block diagnostics. Multi-objective curves in one chart; pattern-detector insights surface inline as the run progresses.</a:t>
            </a:r>
            <a:endParaRPr lang="en-US" sz="225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5616DE83-CF88-2819-B0FE-4391F668CCB7}"/>
              </a:ext>
            </a:extLst>
          </p:cNvPr>
          <p:cNvSpPr/>
          <p:nvPr/>
        </p:nvSpPr>
        <p:spPr>
          <a:xfrm>
            <a:off x="1352442" y="466122"/>
            <a:ext cx="1557755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62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STUDIO</a:t>
            </a:r>
            <a:endParaRPr lang="en-US" sz="13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2048F6D-5D32-8A5E-C442-D4262852E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491" y="3171266"/>
            <a:ext cx="11009814" cy="71157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457154"/>
            <a:ext cx="266654" cy="266654"/>
          </a:xfrm>
          <a:prstGeom prst="roundRect">
            <a:avLst>
              <a:gd name="adj" fmla="val 25004"/>
            </a:avLst>
          </a:prstGeom>
          <a:solidFill>
            <a:srgbClr val="6FC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504779"/>
            <a:ext cx="171404" cy="1714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" y="800038"/>
            <a:ext cx="16874490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243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05B · RESULTS · THE REAL DELIVERABLE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2500" y="1258197"/>
            <a:ext cx="16874490" cy="6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metrics, broken down.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52500" y="2012542"/>
            <a:ext cx="6528955" cy="322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Pearson, Spearman, RMSE, R² on the held-out pairs — plus prediction-vs-actual scatter, ROC at the activity threshold, calibration, residual distribution, and per-target error rows.</a:t>
            </a:r>
            <a:endParaRPr lang="en-US" sz="225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D18E6EA7-C42C-AACA-478D-3732DB4588DC}"/>
              </a:ext>
            </a:extLst>
          </p:cNvPr>
          <p:cNvSpPr/>
          <p:nvPr/>
        </p:nvSpPr>
        <p:spPr>
          <a:xfrm>
            <a:off x="1352442" y="466122"/>
            <a:ext cx="1557755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62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STUDIO</a:t>
            </a:r>
            <a:endParaRPr lang="en-US" sz="13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5EFE46B-C10C-3C19-6464-53D3D50D5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301" y="1810459"/>
            <a:ext cx="10383699" cy="253400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13E2415-3F91-9B9D-B1D3-CF0A343C0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9038" y="4152044"/>
            <a:ext cx="10478962" cy="61349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457154"/>
            <a:ext cx="266654" cy="266654"/>
          </a:xfrm>
          <a:prstGeom prst="roundRect">
            <a:avLst>
              <a:gd name="adj" fmla="val 25004"/>
            </a:avLst>
          </a:prstGeom>
          <a:solidFill>
            <a:srgbClr val="6FC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504779"/>
            <a:ext cx="171404" cy="1714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2442" y="466122"/>
            <a:ext cx="1804694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62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THE NUMBERS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2500" y="800038"/>
            <a:ext cx="16874490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243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THE NUMBERS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2500" y="1258197"/>
            <a:ext cx="16874490" cy="6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actually inside.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52500" y="2012543"/>
            <a:ext cx="10791825" cy="452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snapshot of the scope behind the screens you just saw.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952500" y="2769750"/>
            <a:ext cx="3924347" cy="1927112"/>
          </a:xfrm>
          <a:prstGeom prst="roundRect">
            <a:avLst>
              <a:gd name="adj" fmla="val 5931"/>
            </a:avLst>
          </a:prstGeom>
          <a:solidFill>
            <a:srgbClr val="0E1422"/>
          </a:solidFill>
          <a:ln w="4948">
            <a:solidFill>
              <a:srgbClr val="1D2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243198" y="3079467"/>
            <a:ext cx="3443239" cy="258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kern="0" spc="120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PROTEINS INDEXED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43198" y="3395601"/>
            <a:ext cx="3443239" cy="647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262M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1243198" y="4138504"/>
            <a:ext cx="3443239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UniProt-grounded, with family + taxonomy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105385" y="2769750"/>
            <a:ext cx="3924347" cy="1927112"/>
          </a:xfrm>
          <a:prstGeom prst="roundRect">
            <a:avLst>
              <a:gd name="adj" fmla="val 5931"/>
            </a:avLst>
          </a:prstGeom>
          <a:solidFill>
            <a:srgbClr val="0E1422"/>
          </a:solidFill>
          <a:ln w="4948">
            <a:solidFill>
              <a:srgbClr val="1D2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396083" y="3079467"/>
            <a:ext cx="3443239" cy="258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kern="0" spc="120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96083" y="3395601"/>
            <a:ext cx="3443239" cy="647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22M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5396083" y="4138504"/>
            <a:ext cx="3443239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Motifs, domains &amp; pathway roles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258269" y="2769750"/>
            <a:ext cx="3924347" cy="1927112"/>
          </a:xfrm>
          <a:prstGeom prst="roundRect">
            <a:avLst>
              <a:gd name="adj" fmla="val 5931"/>
            </a:avLst>
          </a:prstGeom>
          <a:solidFill>
            <a:srgbClr val="0E1422"/>
          </a:solidFill>
          <a:ln w="4948">
            <a:solidFill>
              <a:srgbClr val="1D2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548967" y="3079467"/>
            <a:ext cx="3443239" cy="258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kern="0" spc="120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CATALOG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548967" y="3395601"/>
            <a:ext cx="3443239" cy="647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152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9548967" y="4138504"/>
            <a:ext cx="3443239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Encoders, fusions, and prediction heads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3411153" y="2769750"/>
            <a:ext cx="3924347" cy="1927112"/>
          </a:xfrm>
          <a:prstGeom prst="roundRect">
            <a:avLst>
              <a:gd name="adj" fmla="val 5931"/>
            </a:avLst>
          </a:prstGeom>
          <a:solidFill>
            <a:srgbClr val="0E1422"/>
          </a:solidFill>
          <a:ln w="4948">
            <a:solidFill>
              <a:srgbClr val="1D2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3701852" y="3079467"/>
            <a:ext cx="3443239" cy="258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kern="0" spc="120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SOLO, IN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01852" y="3395601"/>
            <a:ext cx="3443239" cy="647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 mo</a:t>
            </a:r>
            <a:endParaRPr lang="en-US" sz="4800" dirty="0"/>
          </a:p>
        </p:txBody>
      </p:sp>
      <p:sp>
        <p:nvSpPr>
          <p:cNvPr id="24" name="Text 21"/>
          <p:cNvSpPr/>
          <p:nvPr/>
        </p:nvSpPr>
        <p:spPr>
          <a:xfrm>
            <a:off x="13701852" y="4138504"/>
            <a:ext cx="3443239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semester · specs, code, UI, validation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952500" y="4925399"/>
            <a:ext cx="3924347" cy="2175751"/>
          </a:xfrm>
          <a:prstGeom prst="roundRect">
            <a:avLst>
              <a:gd name="adj" fmla="val 5253"/>
            </a:avLst>
          </a:prstGeom>
          <a:solidFill>
            <a:srgbClr val="0E1422"/>
          </a:solidFill>
          <a:ln w="4948">
            <a:solidFill>
              <a:srgbClr val="1D2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243198" y="5235117"/>
            <a:ext cx="3443239" cy="258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kern="0" spc="120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SOURCES UNIFIED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243198" y="5551251"/>
            <a:ext cx="3443239" cy="647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4800" dirty="0"/>
          </a:p>
        </p:txBody>
      </p:sp>
      <p:sp>
        <p:nvSpPr>
          <p:cNvPr id="28" name="Text 25"/>
          <p:cNvSpPr/>
          <p:nvPr/>
        </p:nvSpPr>
        <p:spPr>
          <a:xfrm>
            <a:off x="1243198" y="6294154"/>
            <a:ext cx="3443239" cy="535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UniProt, PDB, ChEMBL, BindingDB, IntAct…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5105385" y="4925399"/>
            <a:ext cx="3924347" cy="2175751"/>
          </a:xfrm>
          <a:prstGeom prst="roundRect">
            <a:avLst>
              <a:gd name="adj" fmla="val 5253"/>
            </a:avLst>
          </a:prstGeom>
          <a:solidFill>
            <a:srgbClr val="0E1422"/>
          </a:solidFill>
          <a:ln w="4948">
            <a:solidFill>
              <a:srgbClr val="1D2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396083" y="5235117"/>
            <a:ext cx="3443239" cy="258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kern="0" spc="120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CHECKS PER DATASET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396083" y="5551251"/>
            <a:ext cx="3443239" cy="647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4800" dirty="0"/>
          </a:p>
        </p:txBody>
      </p:sp>
      <p:sp>
        <p:nvSpPr>
          <p:cNvPr id="32" name="Text 29"/>
          <p:cNvSpPr/>
          <p:nvPr/>
        </p:nvSpPr>
        <p:spPr>
          <a:xfrm>
            <a:off x="5396083" y="6294154"/>
            <a:ext cx="3443239" cy="535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Sequence, chemistry, motif, structure, pathway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9258269" y="4925399"/>
            <a:ext cx="3924347" cy="2175751"/>
          </a:xfrm>
          <a:prstGeom prst="roundRect">
            <a:avLst>
              <a:gd name="adj" fmla="val 5253"/>
            </a:avLst>
          </a:prstGeom>
          <a:solidFill>
            <a:srgbClr val="0E1422"/>
          </a:solidFill>
          <a:ln w="4948">
            <a:solidFill>
              <a:srgbClr val="1D2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9548967" y="5235117"/>
            <a:ext cx="3443239" cy="258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kern="0" spc="120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OF CODE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9548967" y="5551251"/>
            <a:ext cx="3443239" cy="647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~100k</a:t>
            </a:r>
            <a:endParaRPr lang="en-US" sz="4800" dirty="0"/>
          </a:p>
        </p:txBody>
      </p:sp>
      <p:sp>
        <p:nvSpPr>
          <p:cNvPr id="36" name="Text 33"/>
          <p:cNvSpPr/>
          <p:nvPr/>
        </p:nvSpPr>
        <p:spPr>
          <a:xfrm>
            <a:off x="9548967" y="6294154"/>
            <a:ext cx="3443239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TypeScript · SQL · CSS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13411153" y="4925399"/>
            <a:ext cx="3924347" cy="2175751"/>
          </a:xfrm>
          <a:prstGeom prst="roundRect">
            <a:avLst>
              <a:gd name="adj" fmla="val 5253"/>
            </a:avLst>
          </a:prstGeom>
          <a:solidFill>
            <a:srgbClr val="6FC7F5">
              <a:alpha val="12000"/>
            </a:srgbClr>
          </a:solidFill>
          <a:ln w="4948">
            <a:solidFill>
              <a:srgbClr val="6FC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3701852" y="5235117"/>
            <a:ext cx="3443239" cy="258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kern="0" spc="120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CALLS REQUIRED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3701852" y="5551251"/>
            <a:ext cx="3443239" cy="647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B3EF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0*</a:t>
            </a:r>
            <a:endParaRPr lang="en-US" sz="4800" dirty="0"/>
          </a:p>
        </p:txBody>
      </p:sp>
      <p:sp>
        <p:nvSpPr>
          <p:cNvPr id="40" name="Text 37"/>
          <p:cNvSpPr/>
          <p:nvPr/>
        </p:nvSpPr>
        <p:spPr>
          <a:xfrm>
            <a:off x="13701852" y="6294154"/>
            <a:ext cx="3443239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fully offline on the local warehouse</a:t>
            </a:r>
            <a:endParaRPr lang="en-US" sz="135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9839DF-D7F4-E05F-3420-7E258896E51A}"/>
              </a:ext>
            </a:extLst>
          </p:cNvPr>
          <p:cNvSpPr txBox="1"/>
          <p:nvPr/>
        </p:nvSpPr>
        <p:spPr>
          <a:xfrm>
            <a:off x="13641185" y="7337999"/>
            <a:ext cx="33167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</a:rPr>
              <a:t>*Options planned for building features from structure files to be downloaded and purged automatically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04016" y="1900207"/>
            <a:ext cx="1279968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350" kern="0" spc="243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677003" y="2453615"/>
            <a:ext cx="8933994" cy="147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5400" b="1" kern="0" spc="-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medicines start with more honest models.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748087" y="4236538"/>
            <a:ext cx="10791825" cy="811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21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ProteoSphere is one student's attempt to push that idea forward, end to end, in software you can actually use.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476500" y="5619518"/>
            <a:ext cx="4267231" cy="1701434"/>
          </a:xfrm>
          <a:prstGeom prst="roundRect">
            <a:avLst>
              <a:gd name="adj" fmla="val 5598"/>
            </a:avLst>
          </a:prstGeom>
          <a:solidFill>
            <a:srgbClr val="0E1422"/>
          </a:solidFill>
          <a:ln w="4948">
            <a:solidFill>
              <a:srgbClr val="1D2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8102" y="5891120"/>
            <a:ext cx="3835748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81" dirty="0">
                <a:solidFill>
                  <a:srgbClr val="5A6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WHAT I LEARNED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48102" y="6235010"/>
            <a:ext cx="3835748" cy="852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tool for non-experts forces you to deeply understand </a:t>
            </a:r>
            <a:r>
              <a:rPr lang="en-US" sz="1425" i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</a:t>
            </a:r>
            <a:r>
              <a:rPr lang="en-US" sz="1425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scientific decision matters — not just how to make it.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7010385" y="5619518"/>
            <a:ext cx="4267231" cy="1701434"/>
          </a:xfrm>
          <a:prstGeom prst="roundRect">
            <a:avLst>
              <a:gd name="adj" fmla="val 5598"/>
            </a:avLst>
          </a:prstGeom>
          <a:solidFill>
            <a:srgbClr val="0E1422"/>
          </a:solidFill>
          <a:ln w="4948">
            <a:solidFill>
              <a:srgbClr val="1D2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81986" y="5891120"/>
            <a:ext cx="3835748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81" dirty="0">
                <a:solidFill>
                  <a:srgbClr val="6FC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WHAT'S NEXT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281986" y="6235010"/>
            <a:ext cx="3835748" cy="852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wet-lab feedback loop, so a model's real-world predictions measurably improve the next version of itself.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1544270" y="5619518"/>
            <a:ext cx="4267231" cy="1701434"/>
          </a:xfrm>
          <a:prstGeom prst="roundRect">
            <a:avLst>
              <a:gd name="adj" fmla="val 5598"/>
            </a:avLst>
          </a:prstGeom>
          <a:solidFill>
            <a:srgbClr val="0E1422"/>
          </a:solidFill>
          <a:ln w="4948">
            <a:solidFill>
              <a:srgbClr val="1D2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15871" y="5891120"/>
            <a:ext cx="3835748" cy="2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81" dirty="0">
                <a:solidFill>
                  <a:srgbClr val="C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WHY MEDICINE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815871" y="6235010"/>
            <a:ext cx="3835748" cy="852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 is a powerful tool. But it only helps patients when doctors and biologists can trust, question, and use it.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7032048" y="8082952"/>
            <a:ext cx="516345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650" kern="0" spc="16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738846" y="8082952"/>
            <a:ext cx="222941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650" kern="0" spc="165" dirty="0">
                <a:solidFill>
                  <a:srgbClr val="40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152240" y="8082952"/>
            <a:ext cx="1836701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650" kern="0" spc="165" dirty="0">
                <a:solidFill>
                  <a:srgbClr val="8B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ProteoSphere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179395" y="8082952"/>
            <a:ext cx="222941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650" kern="0" spc="165" dirty="0">
                <a:solidFill>
                  <a:srgbClr val="40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592789" y="8082952"/>
            <a:ext cx="663085" cy="34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650" kern="0" spc="165" dirty="0">
                <a:solidFill>
                  <a:srgbClr val="8B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1509</Words>
  <Application>Microsoft Office PowerPoint</Application>
  <PresentationFormat>Custom</PresentationFormat>
  <Paragraphs>179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Jonathan Vitas</cp:lastModifiedBy>
  <cp:revision>2</cp:revision>
  <dcterms:created xsi:type="dcterms:W3CDTF">2026-05-22T19:20:51Z</dcterms:created>
  <dcterms:modified xsi:type="dcterms:W3CDTF">2026-05-22T20:36:50Z</dcterms:modified>
</cp:coreProperties>
</file>